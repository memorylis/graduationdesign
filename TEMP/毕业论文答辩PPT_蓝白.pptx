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47.xml"/><Relationship Id="rId26" Type="http://schemas.openxmlformats.org/officeDocument/2006/relationships/tags" Target="../tags/tag46.xml"/><Relationship Id="rId25" Type="http://schemas.openxmlformats.org/officeDocument/2006/relationships/tags" Target="../tags/tag45.xml"/><Relationship Id="rId24" Type="http://schemas.openxmlformats.org/officeDocument/2006/relationships/tags" Target="../tags/tag44.xml"/><Relationship Id="rId23" Type="http://schemas.openxmlformats.org/officeDocument/2006/relationships/tags" Target="../tags/tag43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5994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AABBCC"/>
                </a:solidFill>
                <a:latin typeface="微软雅黑" panose="020B0503020204020204" charset="-122"/>
              </a:defRPr>
            </a:pPr>
            <a:r>
              <a:t>井冈山大学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1371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本科毕业论文答辩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6012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基于Spring Boot和Spring Cloud的</a:t>
            </a:r>
            <a:br/>
            <a:r>
              <a:t>商城系统的设计与实现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601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9AABB"/>
                </a:solidFill>
                <a:latin typeface="微软雅黑" panose="020B0503020204020204" charset="-122"/>
              </a:defRPr>
            </a:pPr>
            <a:r>
              <a:t>Design and Implementation of a Mall System Based on Spring Boot and Spring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5486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答辩人：黄光亮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  号：2207104011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专  业：数据科学与大数据技术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学  院：电子与信息工程学院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指导老师：曾宪文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914400"/>
            <a:ext cx="2560320" cy="2560320"/>
          </a:xfrm>
          <a:prstGeom prst="roundRect">
            <a:avLst/>
          </a:prstGeom>
          <a:solidFill>
            <a:srgbClr val="0F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学校LOGO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>
            <p:custDataLst>
              <p:tags r:id="rId1"/>
            </p:custDataLst>
          </p:nvPr>
        </p:nvSpPr>
        <p:spPr>
          <a:xfrm>
            <a:off x="1097280" y="1645920"/>
            <a:ext cx="594360" cy="594360"/>
          </a:xfrm>
          <a:prstGeom prst="ellipse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874519" y="192024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2468880" y="166420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选题原因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2468880" y="202996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研究背景与研究意义</a:t>
            </a:r>
          </a:p>
        </p:txBody>
      </p:sp>
      <p:sp>
        <p:nvSpPr>
          <p:cNvPr id="12" name="Oval 11"/>
          <p:cNvSpPr/>
          <p:nvPr>
            <p:custDataLst>
              <p:tags r:id="rId5"/>
            </p:custDataLst>
          </p:nvPr>
        </p:nvSpPr>
        <p:spPr>
          <a:xfrm>
            <a:off x="1097280" y="2606040"/>
            <a:ext cx="594360" cy="594360"/>
          </a:xfrm>
          <a:prstGeom prst="ellipse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1874519" y="288036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2468880" y="262432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研究内容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2468880" y="299008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系统核心功能模块与业务闭环</a:t>
            </a:r>
          </a:p>
        </p:txBody>
      </p:sp>
      <p:sp>
        <p:nvSpPr>
          <p:cNvPr id="16" name="Oval 15"/>
          <p:cNvSpPr/>
          <p:nvPr>
            <p:custDataLst>
              <p:tags r:id="rId9"/>
            </p:custDataLst>
          </p:nvPr>
        </p:nvSpPr>
        <p:spPr>
          <a:xfrm>
            <a:off x="1097280" y="3566160"/>
            <a:ext cx="594360" cy="594360"/>
          </a:xfrm>
          <a:prstGeom prst="ellipse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1874519" y="384048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2468880" y="358444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研究思路与方法</a:t>
            </a: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2468880" y="395020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技术路线与关键技术选型</a:t>
            </a:r>
          </a:p>
        </p:txBody>
      </p:sp>
      <p:sp>
        <p:nvSpPr>
          <p:cNvPr id="20" name="Oval 19"/>
          <p:cNvSpPr/>
          <p:nvPr>
            <p:custDataLst>
              <p:tags r:id="rId13"/>
            </p:custDataLst>
          </p:nvPr>
        </p:nvSpPr>
        <p:spPr>
          <a:xfrm>
            <a:off x="1097280" y="4526280"/>
            <a:ext cx="594360" cy="594360"/>
          </a:xfrm>
          <a:prstGeom prst="ellipse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1874519" y="480060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2468880" y="454456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研究成果</a:t>
            </a: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2468880" y="491032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系统架构实现与性能测试</a:t>
            </a:r>
          </a:p>
        </p:txBody>
      </p:sp>
      <p:sp>
        <p:nvSpPr>
          <p:cNvPr id="24" name="Oval 23"/>
          <p:cNvSpPr/>
          <p:nvPr>
            <p:custDataLst>
              <p:tags r:id="rId17"/>
            </p:custDataLst>
          </p:nvPr>
        </p:nvSpPr>
        <p:spPr>
          <a:xfrm>
            <a:off x="1097280" y="5486400"/>
            <a:ext cx="594360" cy="594360"/>
          </a:xfrm>
          <a:prstGeom prst="ellipse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5" name="Rectangle 24"/>
          <p:cNvSpPr/>
          <p:nvPr>
            <p:custDataLst>
              <p:tags r:id="rId18"/>
            </p:custDataLst>
          </p:nvPr>
        </p:nvSpPr>
        <p:spPr>
          <a:xfrm>
            <a:off x="1874519" y="5760720"/>
            <a:ext cx="4572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2468880" y="5504688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2468880" y="5870448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工作回顾与未来方向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BACKGROUND —— 选题原因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3500" cy="100584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互联网电商蓬勃发展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2024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我国网上零售额持续增长，电子商务市场规模不断扩大，网上购物已成为人们日常消费方式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63500" cy="100584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7889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传统单体架构困境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15468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代码耦合度高、扩展性差、维护成本高，高并发场景下系统崩溃，难以应对促销峰值流量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63500" cy="100584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2336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微服务架构兴起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8912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将单体应用拆分为小型独立服务，独立开发、部署、扩展，Spring Cloud成为主流微服务框架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57800"/>
            <a:ext cx="63500" cy="100584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🇨🇳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2578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Spring Cloud Alibaba生态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62356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阿里巴巴基于双十一实战经验推出，提供Nacos、Sentinel等企业级组件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554480"/>
            <a:ext cx="4389120" cy="45720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73736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核心问题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194560"/>
            <a:ext cx="219456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468880"/>
            <a:ext cx="38404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高并发访问导致系统崩溃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业务耦合严重，维护困难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部署效率低，扩展性差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• 如何构建高可用的电商系统？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SIGNIFICANCE —— 选题原因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📚  理论意义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331720"/>
            <a:ext cx="13716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结合Spring Cloud Alibaba技术生态，</a:t>
            </a:r>
            <a:br/>
            <a:r>
              <a:t>探索微服务架构在电商领域的应用实践，</a:t>
            </a:r>
            <a:br/>
            <a:r>
              <a:t>为同类系统开发提供参考方案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服务注册与发现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分布式缓存策略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异步消息解耦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流量控制与熔断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645920"/>
            <a:ext cx="3474720" cy="45720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🏭  实践意义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2331720"/>
            <a:ext cx="13716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实现完整电商业务闭环，</a:t>
            </a:r>
            <a:br/>
            <a:r>
              <a:t>验证微服务架构在实际项目中的</a:t>
            </a:r>
            <a:br/>
            <a:r>
              <a:t>可行性和优越性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79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商品管理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购物车与订单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79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在线支付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高并发验证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8" y="1645920"/>
            <a:ext cx="3474720" cy="45720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8" y="182880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🎓  学习意义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18" y="2331720"/>
            <a:ext cx="137160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8" y="2560320"/>
            <a:ext cx="29260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涵盖当前主流Java开发技术栈，</a:t>
            </a:r>
            <a:br/>
            <a:r>
              <a:t>全面提升微服务架构</a:t>
            </a:r>
            <a:br/>
            <a:r>
              <a:t>设计与开发能力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18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Spring Boot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18" y="429768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Spring Cloud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18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Vue3 + Vite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18" y="4846320"/>
            <a:ext cx="141732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Redis + MQ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CONTENT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2103120" cy="292608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103120" cy="635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用户服务</a:t>
            </a:r>
            <a:br/>
            <a:r>
              <a:t>User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1188720" cy="127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注册登录</a:t>
            </a:r>
            <a:br/>
            <a:r>
              <a:t>JWT鉴权</a:t>
            </a:r>
            <a:br/>
            <a:r>
              <a:t>地址管理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645920"/>
            <a:ext cx="2103120" cy="292608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645920"/>
            <a:ext cx="2103120" cy="63500"/>
          </a:xfrm>
          <a:prstGeom prst="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商品服务</a:t>
            </a:r>
            <a:br/>
            <a:r>
              <a:t>Item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926080"/>
            <a:ext cx="1188720" cy="127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商品CRUD</a:t>
            </a:r>
            <a:br/>
            <a:r>
              <a:t>模糊搜索</a:t>
            </a:r>
            <a:br/>
            <a:r>
              <a:t>个性化推荐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645920"/>
            <a:ext cx="2103120" cy="292608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645920"/>
            <a:ext cx="2103120" cy="635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购物车服务</a:t>
            </a:r>
            <a:br/>
            <a:r>
              <a:t>Cart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926080"/>
            <a:ext cx="1188720" cy="127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购物车管理</a:t>
            </a:r>
            <a:br/>
            <a:r>
              <a:t>数量调整</a:t>
            </a:r>
            <a:br/>
            <a:r>
              <a:t>异步清理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645920"/>
            <a:ext cx="2103120" cy="292608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645920"/>
            <a:ext cx="2103120" cy="635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3A8ED8"/>
                </a:solidFill>
                <a:latin typeface="微软雅黑" panose="020B0503020204020204" charset="-122"/>
              </a:defRPr>
            </a:pPr>
            <a: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交易服务</a:t>
            </a:r>
            <a:br/>
            <a:r>
              <a:t>Trade Service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2926080"/>
            <a:ext cx="1188720" cy="127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订单创建</a:t>
            </a:r>
            <a:br/>
            <a:r>
              <a:t>状态管理</a:t>
            </a:r>
            <a:br/>
            <a:r>
              <a:t>超时取消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645920"/>
            <a:ext cx="2103120" cy="292608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1645920"/>
            <a:ext cx="2103120" cy="63500"/>
          </a:xfrm>
          <a:prstGeom prst="rect">
            <a:avLst/>
          </a:prstGeom>
          <a:solidFill>
            <a:srgbClr val="5A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182880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5AA8E0"/>
                </a:solidFill>
                <a:latin typeface="微软雅黑" panose="020B0503020204020204" charset="-122"/>
              </a:defRPr>
            </a:pPr>
            <a:r>
              <a:t>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3317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支付服务</a:t>
            </a:r>
            <a:br/>
            <a:r>
              <a:t>Pay Service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2926080"/>
            <a:ext cx="1188720" cy="127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3063240"/>
            <a:ext cx="17373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余额支付</a:t>
            </a:r>
            <a:br/>
            <a:r>
              <a:t>支付通知</a:t>
            </a:r>
            <a:br/>
            <a:r>
              <a:t>状态同步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▎完整电商业务闭环</a:t>
            </a:r>
          </a:p>
        </p:txBody>
      </p:sp>
      <p:sp>
        <p:nvSpPr>
          <p:cNvPr id="39" name="Chevron 38"/>
          <p:cNvSpPr/>
          <p:nvPr/>
        </p:nvSpPr>
        <p:spPr>
          <a:xfrm>
            <a:off x="1371600" y="5349240"/>
            <a:ext cx="1737360" cy="502920"/>
          </a:xfrm>
          <a:prstGeom prst="chevron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商品浏览</a:t>
            </a:r>
          </a:p>
        </p:txBody>
      </p:sp>
      <p:sp>
        <p:nvSpPr>
          <p:cNvPr id="40" name="Chevron 39"/>
          <p:cNvSpPr/>
          <p:nvPr/>
        </p:nvSpPr>
        <p:spPr>
          <a:xfrm>
            <a:off x="3383280" y="5349240"/>
            <a:ext cx="1737360" cy="502920"/>
          </a:xfrm>
          <a:prstGeom prst="chevron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加入购物车</a:t>
            </a:r>
          </a:p>
        </p:txBody>
      </p:sp>
      <p:sp>
        <p:nvSpPr>
          <p:cNvPr id="41" name="Chevron 40"/>
          <p:cNvSpPr/>
          <p:nvPr/>
        </p:nvSpPr>
        <p:spPr>
          <a:xfrm>
            <a:off x="5394960" y="5349240"/>
            <a:ext cx="1737360" cy="502920"/>
          </a:xfrm>
          <a:prstGeom prst="chevron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提交订单</a:t>
            </a:r>
          </a:p>
        </p:txBody>
      </p:sp>
      <p:sp>
        <p:nvSpPr>
          <p:cNvPr id="42" name="Chevron 41"/>
          <p:cNvSpPr/>
          <p:nvPr/>
        </p:nvSpPr>
        <p:spPr>
          <a:xfrm>
            <a:off x="7406640" y="5349240"/>
            <a:ext cx="1737360" cy="502920"/>
          </a:xfrm>
          <a:prstGeom prst="chevron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在线支付</a:t>
            </a:r>
          </a:p>
        </p:txBody>
      </p:sp>
      <p:sp>
        <p:nvSpPr>
          <p:cNvPr id="43" name="Chevron 42"/>
          <p:cNvSpPr/>
          <p:nvPr/>
        </p:nvSpPr>
        <p:spPr>
          <a:xfrm>
            <a:off x="9418320" y="5349240"/>
            <a:ext cx="1737360" cy="502920"/>
          </a:xfrm>
          <a:prstGeom prst="chevron">
            <a:avLst/>
          </a:prstGeom>
          <a:solidFill>
            <a:srgbClr val="5A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订单完成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0807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技术支撑：Nacos服务注册 ｜ Gateway统一网关 ｜ OpenFeign远程调用 ｜ Redis缓存 ｜ RabbitMQ异步消息 ｜ MySQL持久化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APPROACH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548640" y="1645920"/>
            <a:ext cx="2651760" cy="39319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2651760" cy="64008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73152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01 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82296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系统分析</a:t>
            </a:r>
          </a:p>
        </p:txBody>
      </p:sp>
      <p:sp>
        <p:nvSpPr>
          <p:cNvPr id="12" name="Rectangle 11"/>
          <p:cNvSpPr/>
          <p:nvPr>
            <p:custDataLst>
              <p:tags r:id="rId5"/>
            </p:custDataLst>
          </p:nvPr>
        </p:nvSpPr>
        <p:spPr>
          <a:xfrm>
            <a:off x="1280160" y="2926080"/>
            <a:ext cx="118872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82296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可行性分析</a:t>
            </a:r>
            <a:br/>
            <a:r>
              <a:t>功能需求分析</a:t>
            </a:r>
            <a:br/>
            <a:r>
              <a:t>用例分析</a:t>
            </a:r>
            <a:br/>
            <a:r>
              <a:t>非功能需求</a:t>
            </a:r>
          </a:p>
        </p:txBody>
      </p: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3429000" y="1645920"/>
            <a:ext cx="2651760" cy="39319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3429000" y="1645920"/>
            <a:ext cx="2651760" cy="640080"/>
          </a:xfrm>
          <a:prstGeom prst="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361188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02 </a:t>
            </a: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370332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总体设计</a:t>
            </a:r>
          </a:p>
        </p:txBody>
      </p:sp>
      <p:sp>
        <p:nvSpPr>
          <p:cNvPr id="18" name="Rectangle 17"/>
          <p:cNvSpPr/>
          <p:nvPr>
            <p:custDataLst>
              <p:tags r:id="rId11"/>
            </p:custDataLst>
          </p:nvPr>
        </p:nvSpPr>
        <p:spPr>
          <a:xfrm>
            <a:off x="4160520" y="2926080"/>
            <a:ext cx="118872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370332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系统架构设计</a:t>
            </a:r>
            <a:br/>
            <a:r>
              <a:t>功能结构设计</a:t>
            </a:r>
            <a:br/>
            <a:r>
              <a:t>业务流程设计</a:t>
            </a:r>
            <a:br/>
            <a:r>
              <a:t>数据库设计</a:t>
            </a: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6309360" y="1645920"/>
            <a:ext cx="2651760" cy="39319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6309360" y="1645920"/>
            <a:ext cx="2651760" cy="64008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649224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03 </a:t>
            </a:r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658368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系统实现</a:t>
            </a:r>
          </a:p>
        </p:txBody>
      </p:sp>
      <p:sp>
        <p:nvSpPr>
          <p:cNvPr id="24" name="Rectangle 23"/>
          <p:cNvSpPr/>
          <p:nvPr>
            <p:custDataLst>
              <p:tags r:id="rId17"/>
            </p:custDataLst>
          </p:nvPr>
        </p:nvSpPr>
        <p:spPr>
          <a:xfrm>
            <a:off x="7040880" y="2926080"/>
            <a:ext cx="118872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8"/>
            </p:custDataLst>
          </p:nvPr>
        </p:nvSpPr>
        <p:spPr>
          <a:xfrm>
            <a:off x="658368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微服务开发</a:t>
            </a:r>
            <a:br/>
            <a:r>
              <a:t>前端页面构建</a:t>
            </a:r>
            <a:br/>
            <a:r>
              <a:t>中间件集成</a:t>
            </a:r>
            <a:br/>
            <a:r>
              <a:t>个性化推荐算法</a:t>
            </a:r>
          </a:p>
        </p:txBody>
      </p:sp>
      <p:sp>
        <p:nvSpPr>
          <p:cNvPr id="26" name="Rounded Rectangle 25"/>
          <p:cNvSpPr/>
          <p:nvPr>
            <p:custDataLst>
              <p:tags r:id="rId19"/>
            </p:custDataLst>
          </p:nvPr>
        </p:nvSpPr>
        <p:spPr>
          <a:xfrm>
            <a:off x="9189720" y="1645920"/>
            <a:ext cx="2651760" cy="39319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20"/>
            </p:custDataLst>
          </p:nvPr>
        </p:nvSpPr>
        <p:spPr>
          <a:xfrm>
            <a:off x="9189720" y="1645920"/>
            <a:ext cx="2651760" cy="64008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21"/>
            </p:custDataLst>
          </p:nvPr>
        </p:nvSpPr>
        <p:spPr>
          <a:xfrm>
            <a:off x="9372600" y="169164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 xml:space="preserve"> Phase 04 </a:t>
            </a:r>
          </a:p>
        </p:txBody>
      </p:sp>
      <p:sp>
        <p:nvSpPr>
          <p:cNvPr id="29" name="TextBox 28"/>
          <p:cNvSpPr txBox="1"/>
          <p:nvPr>
            <p:custDataLst>
              <p:tags r:id="rId22"/>
            </p:custDataLst>
          </p:nvPr>
        </p:nvSpPr>
        <p:spPr>
          <a:xfrm>
            <a:off x="9464040" y="2468880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3A8ED8"/>
                </a:solidFill>
                <a:latin typeface="微软雅黑" panose="020B0503020204020204" charset="-122"/>
              </a:defRPr>
            </a:pPr>
            <a:r>
              <a:t>系统测试</a:t>
            </a:r>
          </a:p>
        </p:txBody>
      </p:sp>
      <p:sp>
        <p:nvSpPr>
          <p:cNvPr id="30" name="Rectangle 29"/>
          <p:cNvSpPr/>
          <p:nvPr>
            <p:custDataLst>
              <p:tags r:id="rId23"/>
            </p:custDataLst>
          </p:nvPr>
        </p:nvSpPr>
        <p:spPr>
          <a:xfrm>
            <a:off x="9921240" y="2926080"/>
            <a:ext cx="118872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>
            <p:custDataLst>
              <p:tags r:id="rId24"/>
            </p:custDataLst>
          </p:nvPr>
        </p:nvSpPr>
        <p:spPr>
          <a:xfrm>
            <a:off x="9464040" y="3154680"/>
            <a:ext cx="2103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功能测试</a:t>
            </a:r>
            <a:br/>
            <a:r>
              <a:t>性能测试</a:t>
            </a:r>
            <a:br/>
            <a:r>
              <a:t>并发压力测试</a:t>
            </a:r>
            <a:br/>
            <a:r>
              <a:t>结果分析</a:t>
            </a:r>
          </a:p>
        </p:txBody>
      </p:sp>
      <p:sp>
        <p:nvSpPr>
          <p:cNvPr id="32" name="Right Arrow 31"/>
          <p:cNvSpPr/>
          <p:nvPr>
            <p:custDataLst>
              <p:tags r:id="rId25"/>
            </p:custDataLst>
          </p:nvPr>
        </p:nvSpPr>
        <p:spPr>
          <a:xfrm>
            <a:off x="3337560" y="3291840"/>
            <a:ext cx="320040" cy="320040"/>
          </a:xfrm>
          <a:prstGeom prst="right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>
            <p:custDataLst>
              <p:tags r:id="rId26"/>
            </p:custDataLst>
          </p:nvPr>
        </p:nvSpPr>
        <p:spPr>
          <a:xfrm>
            <a:off x="6217920" y="3291840"/>
            <a:ext cx="320040" cy="320040"/>
          </a:xfrm>
          <a:prstGeom prst="right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>
            <p:custDataLst>
              <p:tags r:id="rId27"/>
            </p:custDataLst>
          </p:nvPr>
        </p:nvSpPr>
        <p:spPr>
          <a:xfrm>
            <a:off x="9098280" y="3291840"/>
            <a:ext cx="320040" cy="320040"/>
          </a:xfrm>
          <a:prstGeom prst="right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978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论文结构：第1章 绪论 → 第2章 相关技术概述 → 第3章 系统分析 → 第4章 总体设计 → 第5章 系统实现 → 第6章 系统测试 → 第7章 总结与展望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研究方法与关键技术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METHODS &amp; KEY TECHNOLOGIES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▎研究方法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0800" cy="96012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文献研究法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查阅国内外微服务架构、电商系统相关文献，</a:t>
            </a:r>
            <a:br/>
            <a:r>
              <a:t>了解技术发展趋势和最佳实践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50800" cy="96012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系统设计法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采用前后端分离B/S架构，微服务拆分，</a:t>
            </a:r>
            <a:br/>
            <a:r>
              <a:t>分库设计，模块化开发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50800" cy="96012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实验测试法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使用JMeter进行并发压力测试，</a:t>
            </a:r>
            <a:br/>
            <a:r>
              <a:t>验证系统性能与稳定性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▎核心技术栈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19456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2194560"/>
            <a:ext cx="1691640" cy="508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Spring Boot 2.7.12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基础框架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19456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2194560"/>
            <a:ext cx="1691640" cy="50800"/>
          </a:xfrm>
          <a:prstGeom prst="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Spring Cloud Alibaba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144272"/>
                </a:solidFill>
                <a:latin typeface="微软雅黑" panose="020B0503020204020204" charset="-122"/>
              </a:defRPr>
            </a:pPr>
            <a:r>
              <a:t>微服务治理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219456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41280" y="2194560"/>
            <a:ext cx="1691640" cy="508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230428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Nacos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69748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注册 &amp; 配置中心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38328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3383280"/>
            <a:ext cx="1691640" cy="508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Spring Cloud 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3A8ED8"/>
                </a:solidFill>
                <a:latin typeface="微软雅黑" panose="020B0503020204020204" charset="-122"/>
              </a:defRPr>
            </a:pPr>
            <a:r>
              <a:t>API网关 &amp; JWT鉴权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338328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12480" y="3383280"/>
            <a:ext cx="1691640" cy="50800"/>
          </a:xfrm>
          <a:prstGeom prst="rect">
            <a:avLst/>
          </a:prstGeom>
          <a:solidFill>
            <a:srgbClr val="5A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OpenFeign + OkHttp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5AA8E0"/>
                </a:solidFill>
                <a:latin typeface="微软雅黑" panose="020B0503020204020204" charset="-122"/>
              </a:defRPr>
            </a:pPr>
            <a:r>
              <a:t>服务间远程调用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338328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41280" y="3383280"/>
            <a:ext cx="1691640" cy="50800"/>
          </a:xfrm>
          <a:prstGeom prst="rect">
            <a:avLst/>
          </a:prstGeom>
          <a:solidFill>
            <a:srgbClr val="DC5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20" y="349300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Redis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88620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DC562C"/>
                </a:solidFill>
                <a:latin typeface="微软雅黑" panose="020B0503020204020204" charset="-122"/>
              </a:defRPr>
            </a:pPr>
            <a:r>
              <a:t>分布式缓存 &amp; 分布式锁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57200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4572000"/>
            <a:ext cx="1691640" cy="50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RabbitMQ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6600"/>
                </a:solidFill>
                <a:latin typeface="微软雅黑" panose="020B0503020204020204" charset="-122"/>
              </a:defRPr>
            </a:pPr>
            <a:r>
              <a:t>异步消息 &amp; 延迟队列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457200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0" y="4572000"/>
            <a:ext cx="1691640" cy="50800"/>
          </a:xfrm>
          <a:prstGeom prst="rect">
            <a:avLst/>
          </a:prstGeom>
          <a:solidFill>
            <a:srgbClr val="44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MySQL 8.0 + MyBatis-Plus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478A0"/>
                </a:solidFill>
                <a:latin typeface="微软雅黑" panose="020B0503020204020204" charset="-122"/>
              </a:defRPr>
            </a:pPr>
            <a:r>
              <a:t>数据持久化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0" y="4572000"/>
            <a:ext cx="1691640" cy="96012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41280" y="4572000"/>
            <a:ext cx="1691640" cy="50800"/>
          </a:xfrm>
          <a:prstGeom prst="rect">
            <a:avLst/>
          </a:prstGeom>
          <a:solidFill>
            <a:srgbClr val="42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32720" y="4681728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Vue3 + Vite + Pinia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5074920"/>
            <a:ext cx="1508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42B883"/>
                </a:solidFill>
                <a:latin typeface="微软雅黑" panose="020B0503020204020204" charset="-122"/>
              </a:defRPr>
            </a:pPr>
            <a:r>
              <a:t>前端框架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研究成果 ——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RESULTS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943600" cy="960120"/>
          </a:xfrm>
          <a:prstGeom prst="round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客户端层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Vue3 Web应用</a:t>
            </a:r>
            <a:br/>
            <a:r>
              <a:t>浏览器访问</a:t>
            </a:r>
            <a:br/>
            <a:r>
              <a:t>响应式界面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943600" cy="960120"/>
          </a:xfrm>
          <a:prstGeom prst="round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62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接入层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Spring Cloud Gateway</a:t>
            </a:r>
            <a:br/>
            <a:r>
              <a:t>统一路由 · JWT鉴权</a:t>
            </a:r>
            <a:br/>
            <a:r>
              <a:t>动态路由配置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943600" cy="960120"/>
          </a:xfrm>
          <a:prstGeom prst="round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05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用户服务 | 商品服务 | 购物车服务</a:t>
            </a:r>
            <a:br/>
            <a:r>
              <a:t>交易服务 | 支付服务</a:t>
            </a:r>
            <a:br/>
            <a:r>
              <a:t>Nacos · OpenFeign · Sentinel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5943600" cy="960120"/>
          </a:xfrm>
          <a:prstGeom prst="round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480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5394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MySQL 数据库（分库）</a:t>
            </a:r>
            <a:br/>
            <a:r>
              <a:t>Redis 缓存</a:t>
            </a:r>
            <a:br/>
            <a:r>
              <a:t>RabbitMQ 消息队列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383280" y="2651760"/>
            <a:ext cx="274320" cy="201168"/>
          </a:xfrm>
          <a:prstGeom prst="down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3383280" y="3794760"/>
            <a:ext cx="274320" cy="201168"/>
          </a:xfrm>
          <a:prstGeom prst="down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3383280" y="4937760"/>
            <a:ext cx="274320" cy="201168"/>
          </a:xfrm>
          <a:prstGeom prst="downArrow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554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▎架构亮点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1945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1945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前后端分离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945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B/S架构，Vue3 + 网关 + 微服务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907792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907792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服务拆分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90779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按业务域拆分为5大独立微服务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621024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621024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服务治理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62102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Nacos注册发现 + Gateway统一入口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34256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334256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异步解耦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33425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RabbitMQ处理支付通知/超时取消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0474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5047488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高性能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04748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Redis缓存 + 乐观锁防超卖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7607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5760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个性化推荐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7607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基于余弦相似度的协同过滤算法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研究成果 —— 性能测试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RESEARCH RESULTS —— 论文框架与重点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▎JMeter并发压力测试方案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3035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测试场景：模拟多用户同时对同一热门商品发起下单请求</a:t>
            </a:r>
            <a:br/>
            <a:r>
              <a:t>测试工具：Apache JMeter 5.x</a:t>
            </a:r>
            <a:br/>
            <a:r>
              <a:t>核心指标：平均响应时间、吞吐量、错误率、库存一致性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200400"/>
          <a:ext cx="5394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测试组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并发用户数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循环次数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总请求数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第一组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第二组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第三组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▎性能测试结果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2103120"/>
          <a:ext cx="5852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280160"/>
                <a:gridCol w="1280160"/>
                <a:gridCol w="10058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并发数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平均响应(ms)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吞吐量(req/s)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错误率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库存一致性</a:t>
                      </a:r>
                    </a:p>
                  </a:txBody>
                  <a:tcPr>
                    <a:solidFill>
                      <a:srgbClr val="0D33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一致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0" y="4480560"/>
            <a:ext cx="1737360" cy="1463040"/>
          </a:xfrm>
          <a:prstGeom prst="round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100并发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响应156ms</a:t>
            </a:r>
            <a:br/>
            <a:r>
              <a:t>零错误率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4480560"/>
            <a:ext cx="1737360" cy="1463040"/>
          </a:xfrm>
          <a:prstGeom prst="roundRect">
            <a:avLst/>
          </a:prstGeom>
          <a:solidFill>
            <a:srgbClr val="14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500并发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响应512ms</a:t>
            </a:r>
            <a:br/>
            <a:r>
              <a:t>错误率仅0.2%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60" y="4480560"/>
            <a:ext cx="1737360" cy="1463040"/>
          </a:xfrm>
          <a:prstGeom prst="round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4617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库存安全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4983480"/>
            <a:ext cx="1554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DE8F2"/>
                </a:solidFill>
                <a:latin typeface="微软雅黑" panose="020B0503020204020204" charset="-122"/>
              </a:defRPr>
            </a:pPr>
            <a:r>
              <a:t>所有测试组</a:t>
            </a:r>
            <a:br/>
            <a:r>
              <a:t>零超卖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728655" cy="381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865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微软雅黑" panose="020B0503020204020204" charset="-122"/>
              </a:defRPr>
            </a:pPr>
            <a:r>
              <a:t>SUMMARY &amp;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▎工作总结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0800" cy="82296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945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完成微服务架构设计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4203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基于Spring Cloud Alibaba，实现五大核心微服务模块，通过Nacos、Gateway、OpenFeign构建完整微服务治理体系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50800" cy="82296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461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实现完整电商业务闭环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9359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涵盖商品浏览搜索、购物车管理、订单交易、在线支付、用户管理、后台管理等核心功能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50800" cy="82296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976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多技术手段保障性能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4515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Redis缓存提升查询性能、RabbitMQ异步解耦、乐观锁防超卖、个性化推荐算法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49240"/>
            <a:ext cx="50800" cy="82296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JMeter验证高并发能力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696712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500并发下响应512ms，错误率仅0.2%，零超卖，系统稳定可靠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▎未来展望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194560"/>
            <a:ext cx="4846320" cy="9144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219456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26771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26771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容器化部署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60604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引入Docker + Kubernetes，</a:t>
            </a:r>
            <a:br/>
            <a:r>
              <a:t>实现自动化部署与弹性伸缩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291840"/>
            <a:ext cx="4846320" cy="9144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329184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36499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36499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全链路追踪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7033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引入SkyWalking/Zipkin，</a:t>
            </a:r>
            <a:br/>
            <a:r>
              <a:t>实现调用链路可视化监控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389120"/>
            <a:ext cx="4846320" cy="9144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438912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446227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46227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读写分离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80060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MySQL主从复制 + 读写分离，</a:t>
            </a:r>
            <a:br/>
            <a:r>
              <a:t>提升数据层性能与可用性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486400"/>
            <a:ext cx="4846320" cy="914400"/>
          </a:xfrm>
          <a:prstGeom prst="round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0" y="5486400"/>
            <a:ext cx="50800" cy="914400"/>
          </a:xfrm>
          <a:prstGeom prst="rect">
            <a:avLst/>
          </a:prstGeom>
          <a:solidFill>
            <a:srgbClr val="3A8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559552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t>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559552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A2647"/>
                </a:solidFill>
                <a:latin typeface="微软雅黑" panose="020B0503020204020204" charset="-122"/>
              </a:defRPr>
            </a:pPr>
            <a:r>
              <a:t>Service Mesh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89788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引入Istio服务网格，</a:t>
            </a:r>
            <a:br/>
            <a:r>
              <a:t>下沉服务治理能力至基础设施层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996696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5029200"/>
            <a:ext cx="9966960" cy="25400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敬请老师批评指正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9966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9AABB"/>
                </a:solidFill>
                <a:latin typeface="微软雅黑" panose="020B0503020204020204" charset="-122"/>
              </a:defRPr>
            </a:pPr>
            <a:r>
              <a:t>Thank you for your valuable comments and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00"/>
              </a:spcAft>
              <a:defRPr sz="1600" b="0">
                <a:solidFill>
                  <a:srgbClr val="CCDDEE"/>
                </a:solidFill>
                <a:latin typeface="微软雅黑" panose="020B0503020204020204" charset="-122"/>
              </a:defRPr>
            </a:pPr>
            <a:r>
              <a:t>答辩人：黄光亮</a:t>
            </a:r>
          </a:p>
          <a:p>
            <a:pPr algn="ctr">
              <a:spcAft>
                <a:spcPts val="400"/>
              </a:spcAft>
              <a:defRPr sz="1600" b="0">
                <a:solidFill>
                  <a:srgbClr val="CCDDEE"/>
                </a:solidFill>
                <a:latin typeface="微软雅黑" panose="020B0503020204020204" charset="-122"/>
              </a:defRPr>
            </a:pPr>
            <a:r>
              <a:t>指导老师：曾宪文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2C6FAD"/>
                </a:solidFill>
                <a:latin typeface="微软雅黑" panose="020B0503020204020204" charset="-122"/>
              </a:defRPr>
            </a:pPr>
            <a:r>
              <a:t>井冈山大学 · 电子与信息工程学院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808080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3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4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5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6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7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8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9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0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1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2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3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4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5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6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7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8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19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0.xml><?xml version="1.0" encoding="utf-8"?>
<p:tagLst xmlns:p="http://schemas.openxmlformats.org/presentationml/2006/main">
  <p:tag name="KSO_WM_DIAGRAM_VIRTUALLY_FRAME" val="{&quot;height&quot;:354.23999999999995,&quot;left&quot;:86.4,&quot;top&quot;:129.6,&quot;width&quot;:684}"/>
</p:tagLst>
</file>

<file path=ppt/tags/tag2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8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29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0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8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39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0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1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2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3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4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5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6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ags/tag47.xml><?xml version="1.0" encoding="utf-8"?>
<p:tagLst xmlns:p="http://schemas.openxmlformats.org/presentationml/2006/main">
  <p:tag name="KSO_WM_DIAGRAM_VIRTUALLY_FRAME" val="{&quot;height&quot;:309.6,&quot;left&quot;:43.2,&quot;top&quot;:129.6,&quot;width&quot;:88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3032</Words>
  <Application>WPS 演示</Application>
  <PresentationFormat>On-screen Show (4:3)</PresentationFormat>
  <Paragraphs>495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一阵晚风</cp:lastModifiedBy>
  <cp:revision>2</cp:revision>
  <dcterms:created xsi:type="dcterms:W3CDTF">2013-01-27T09:14:00Z</dcterms:created>
  <dcterms:modified xsi:type="dcterms:W3CDTF">2026-05-19T14:32:45Z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41B1F540A57F4E66821225EE42DB6B5C_12</vt:lpwstr>
  </property>
</Properties>
</file>